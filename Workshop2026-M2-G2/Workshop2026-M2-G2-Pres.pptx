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78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150">
                <a:solidFill>
                  <a:srgbClr val="6B7280"/>
                </a:solidFill>
                <a:latin typeface="Segoe UI"/>
              </a:rPr>
              <a:t>EPSI · WORKSHOP 2026 · MASTER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3258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 spc="150">
                <a:solidFill>
                  <a:srgbClr val="D6006C"/>
                </a:solidFill>
                <a:latin typeface="Segoe UI"/>
              </a:rPr>
              <a:t>PROJECT RESILIENCE-ALPHA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200" b="1" i="0">
                <a:solidFill>
                  <a:srgbClr val="1F2430"/>
                </a:solidFill>
                <a:latin typeface="Segoe UI"/>
              </a:rPr>
              <a:t>Xijin Pink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6324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900" b="0" i="0">
                <a:solidFill>
                  <a:srgbClr val="6B7280"/>
                </a:solidFill>
                <a:latin typeface="Segoe UI"/>
              </a:rPr>
              <a:t>Une plateforme de dons fictive face à un incident de sécurité — détection, reprise automatique, gouvernance.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977639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 spc="100">
                <a:solidFill>
                  <a:srgbClr val="A3014F"/>
                </a:solidFill>
                <a:latin typeface="Segoe UI"/>
              </a:rPr>
              <a:t>SUPPORT DE PRÉSENTATION · 10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5623560"/>
            <a:ext cx="10671048" cy="12700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58064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430"/>
                </a:solidFill>
                <a:latin typeface="Segoe UI"/>
              </a:rPr>
              <a:t>Julien Demogue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Services et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58064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430"/>
                </a:solidFill>
                <a:latin typeface="Segoe UI"/>
              </a:rPr>
              <a:t>Louis Marec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IA et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58064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430"/>
                </a:solidFill>
                <a:latin typeface="Segoe UI"/>
              </a:rPr>
              <a:t>Eric Girard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58064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430"/>
                </a:solidFill>
                <a:latin typeface="Segoe UI"/>
              </a:rPr>
              <a:t>Noé Filippi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58064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1F2430"/>
                </a:solidFill>
                <a:latin typeface="Segoe UI"/>
              </a:rPr>
              <a:t>Sterenn</a:t>
            </a:r>
          </a:p>
          <a:p>
            <a:r>
              <a:rPr sz="950" b="0" i="0">
                <a:solidFill>
                  <a:srgbClr val="6B7280"/>
                </a:solidFill>
                <a:latin typeface="Segoe U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580644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6B7280"/>
                </a:solidFill>
                <a:latin typeface="Segoe UI"/>
              </a:rPr>
              <a:t>Groupe G2 ·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Project Resilience-Alpha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Ce que nous allons voir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57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05740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Contexte et objectifs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Pourquoi ce démonstrateur, et ce qu'on entend par « reprise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97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69748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Architecture de la plateforme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Les briques et leur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33756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Le scénario démontré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L'incident mis en avant et sa preuve de reprise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977639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977639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Intelligence artificielle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Détection d'anomalies et assistant opérateur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617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61772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Reprise automatique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Zero-touch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57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5740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Sécurité en profondeur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WAF, paiement signé,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69748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Authentification faciale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Consigne additionnelle et voyant connecté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3756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33756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Résultats des essais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Ce que montrent les chiffres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77639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977639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Gouvernance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EBIOS RM et PCA/PRA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6177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 i="0">
                <a:solidFill>
                  <a:srgbClr val="FDE8F1"/>
                </a:solidFill>
                <a:latin typeface="Segoe U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617720"/>
            <a:ext cx="4846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1F2430"/>
                </a:solidFill>
                <a:latin typeface="Segoe UI"/>
              </a:rPr>
              <a:t>NIS2 / DORA</a:t>
            </a:r>
          </a:p>
          <a:p>
            <a:r>
              <a:rPr sz="1050" b="0" i="0">
                <a:solidFill>
                  <a:srgbClr val="6B7280"/>
                </a:solidFill>
                <a:latin typeface="Segoe UI"/>
              </a:rPr>
              <a:t>Limites et recommandations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01 · 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Contexte et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Un incident de sécurité, sans intervention humaine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9601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Xijin Pink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est un prestataire de paiement fictif qui collecte des dons pour Octobre Rose, construit en une semaine de workshop.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0" i="0">
                <a:solidFill>
                  <a:srgbClr val="1F2430"/>
                </a:solidFill>
                <a:latin typeface="Segoe UI"/>
              </a:rPr>
              <a:t>Trois questions guident le projet : quand une attaque frappe,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la voit-on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,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la comprend-on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, et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le service redevient-il utilisable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?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0" i="0">
                <a:solidFill>
                  <a:srgbClr val="1F2430"/>
                </a:solidFill>
                <a:latin typeface="Segoe UI"/>
              </a:rPr>
              <a:t>Notre définition de la reprise : l'API répond, un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nouveau don atteint le statut « paid »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, et les données restent cohérentes.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0" i="0">
                <a:solidFill>
                  <a:srgbClr val="1F2430"/>
                </a:solidFill>
                <a:latin typeface="Segoe UI"/>
              </a:rPr>
              <a:t>Un conteneur qui redémarre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ne prouve rien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— c'est le point de départ de toutes nos décisions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Architecture et flux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Toute la plateforme, démarrée en une commande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011680"/>
            <a:ext cx="2212848" cy="731520"/>
          </a:xfrm>
          <a:prstGeom prst="roundRect">
            <a:avLst>
              <a:gd name="adj" fmla="val 6000"/>
            </a:avLst>
          </a:prstGeom>
          <a:solidFill>
            <a:srgbClr val="F4F4F7"/>
          </a:solidFill>
          <a:ln w="1587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1F2430"/>
                </a:solidFill>
                <a:latin typeface="Segoe UI"/>
              </a:rPr>
              <a:t>Donateur / Jury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navigateur, hotspot RESILIENCE-G2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148840"/>
            <a:ext cx="320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6006C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011680"/>
            <a:ext cx="2212848" cy="73152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15875">
            <a:solidFill>
              <a:srgbClr val="D60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A3014F"/>
                </a:solidFill>
                <a:latin typeface="Segoe UI"/>
              </a:rPr>
              <a:t>WAF Nginx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seule porte d'entrée exposée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255" y="2148840"/>
            <a:ext cx="320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6006C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33288" y="2011680"/>
            <a:ext cx="2212848" cy="731520"/>
          </a:xfrm>
          <a:prstGeom prst="roundRect">
            <a:avLst>
              <a:gd name="adj" fmla="val 6000"/>
            </a:avLst>
          </a:prstGeom>
          <a:solidFill>
            <a:srgbClr val="F4F4F7"/>
          </a:solidFill>
          <a:ln w="1587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1F2430"/>
                </a:solidFill>
                <a:latin typeface="Segoe UI"/>
              </a:rPr>
              <a:t>Frontend React + Tailwind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site de dons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3" y="2148840"/>
            <a:ext cx="320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D6006C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2011680"/>
            <a:ext cx="2212848" cy="731520"/>
          </a:xfrm>
          <a:prstGeom prst="roundRect">
            <a:avLst>
              <a:gd name="adj" fmla="val 6000"/>
            </a:avLst>
          </a:prstGeom>
          <a:solidFill>
            <a:srgbClr val="F4F4F7"/>
          </a:solidFill>
          <a:ln w="1587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1F2430"/>
                </a:solidFill>
                <a:latin typeface="Segoe UI"/>
              </a:rPr>
              <a:t>Auth · Paiement · PSP simulé</a:t>
            </a:r>
          </a:p>
          <a:p>
            <a:pPr algn="ctr"/>
            <a:r>
              <a:rPr sz="900" b="0" i="0">
                <a:solidFill>
                  <a:srgbClr val="6B7280"/>
                </a:solidFill>
                <a:latin typeface="Segoe UI"/>
              </a:rPr>
              <a:t>3 services Node.js + MariaDB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63240"/>
            <a:ext cx="9601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400"/>
              </a:spcAft>
              <a:buClr>
                <a:srgbClr val="D6006C"/>
              </a:buClr>
              <a:buFont typeface="Arial"/>
              <a:buChar char="■"/>
            </a:pPr>
            <a:r>
              <a:rPr sz="1550" b="0" i="0">
                <a:solidFill>
                  <a:srgbClr val="1F2430"/>
                </a:solidFill>
                <a:latin typeface="Segoe UI"/>
              </a:rPr>
              <a:t>Tout tourne en </a:t>
            </a:r>
            <a:r>
              <a:rPr sz="1550" b="1" i="0">
                <a:solidFill>
                  <a:srgbClr val="A3014F"/>
                </a:solidFill>
                <a:latin typeface="Segoe UI"/>
              </a:rPr>
              <a:t>Docker Compose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 sur le PC Hôte, réseau interne cloisonné, démarrage en une commande (start.sh).</a:t>
            </a:r>
          </a:p>
          <a:p>
            <a:pPr indent="-203200" marL="203200">
              <a:spcAft>
                <a:spcPts val="1400"/>
              </a:spcAft>
              <a:buClr>
                <a:srgbClr val="D6006C"/>
              </a:buClr>
              <a:buFont typeface="Arial"/>
              <a:buChar char="■"/>
            </a:pPr>
            <a:r>
              <a:rPr sz="1550" b="1" i="0">
                <a:solidFill>
                  <a:srgbClr val="A3014F"/>
                </a:solidFill>
                <a:latin typeface="Segoe UI"/>
              </a:rPr>
              <a:t>Observabilité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 : Prometheus (métriques), Loki (journaux), Grafana (supervision &amp; SOC).</a:t>
            </a:r>
          </a:p>
          <a:p>
            <a:pPr indent="-203200" marL="203200">
              <a:spcAft>
                <a:spcPts val="1400"/>
              </a:spcAft>
              <a:buClr>
                <a:srgbClr val="D6006C"/>
              </a:buClr>
              <a:buFont typeface="Arial"/>
              <a:buChar char="■"/>
            </a:pPr>
            <a:r>
              <a:rPr sz="1550" b="1" i="0">
                <a:solidFill>
                  <a:srgbClr val="A3014F"/>
                </a:solidFill>
                <a:latin typeface="Segoe UI"/>
              </a:rPr>
              <a:t>IA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 : détecteur d'anomalies par apprentissage + assistant RAG local (Ollama).</a:t>
            </a:r>
          </a:p>
          <a:p>
            <a:pPr indent="-203200" marL="203200">
              <a:spcAft>
                <a:spcPts val="1400"/>
              </a:spcAft>
              <a:buClr>
                <a:srgbClr val="D6006C"/>
              </a:buClr>
              <a:buFont typeface="Arial"/>
              <a:buChar char="■"/>
            </a:pPr>
            <a:r>
              <a:rPr sz="1550" b="0" i="0">
                <a:solidFill>
                  <a:srgbClr val="1F2430"/>
                </a:solidFill>
                <a:latin typeface="Segoe UI"/>
              </a:rPr>
              <a:t>Consigne additionnelle : authentification faciale reliée à un </a:t>
            </a:r>
            <a:r>
              <a:rPr sz="1550" b="1" i="0">
                <a:solidFill>
                  <a:srgbClr val="A3014F"/>
                </a:solidFill>
                <a:latin typeface="Segoe UI"/>
              </a:rPr>
              <a:t>voyant ESP8266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03 · SCÉNARIO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Nature de l'incident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Le déni de service sur le paiement, mis en avant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5760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8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5 familles d'attaques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outillées et reproductibles : saturation, bourrage d'identifiants, aspiration, injection, exfiltration.</a:t>
            </a:r>
          </a:p>
          <a:p>
            <a:pPr indent="-203200" marL="203200">
              <a:spcAft>
                <a:spcPts val="1800"/>
              </a:spcAft>
              <a:buClr>
                <a:srgbClr val="D6006C"/>
              </a:buClr>
              <a:buFont typeface="Arial"/>
              <a:buChar char="■"/>
            </a:pPr>
            <a:r>
              <a:rPr sz="1600" b="0" i="0">
                <a:solidFill>
                  <a:srgbClr val="1F2430"/>
                </a:solidFill>
                <a:latin typeface="Segoe UI"/>
              </a:rPr>
              <a:t>Scripts Python lancés depuis le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PC Attaquant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, trafic normal joué en parallèle pour rester réaliste.</a:t>
            </a:r>
          </a:p>
          <a:p>
            <a:pPr indent="-203200" marL="203200">
              <a:spcAft>
                <a:spcPts val="1800"/>
              </a:spcAft>
              <a:buClr>
                <a:srgbClr val="D6006C"/>
              </a:buClr>
              <a:buFont typeface="Arial"/>
              <a:buChar char="■"/>
            </a:pPr>
            <a:r>
              <a:rPr sz="1600" b="0" i="0">
                <a:solidFill>
                  <a:srgbClr val="1F2430"/>
                </a:solidFill>
                <a:latin typeface="Segoe UI"/>
              </a:rPr>
              <a:t>Pour la démo : un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flood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sur le paiement, pendant 60 secondes, avec montée progressive.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65960"/>
            <a:ext cx="4572000" cy="160020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148840"/>
            <a:ext cx="405993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Preuve de reprise retenue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Latence et erreurs grimpent pendant l'attaque, puis un </a:t>
            </a:r>
            <a:r>
              <a:rPr sz="1350" b="1" i="0">
                <a:solidFill>
                  <a:srgbClr val="1F2430"/>
                </a:solidFill>
                <a:latin typeface="Segoe UI"/>
              </a:rPr>
              <a:t>nouveau don fictif aboutit</a:t>
            </a:r>
            <a:r>
              <a:rPr sz="1350" b="0" i="0">
                <a:solidFill>
                  <a:srgbClr val="1F2430"/>
                </a:solidFill>
                <a:latin typeface="Segoe UI"/>
              </a:rPr>
              <a:t> et atteint le statut payé — l'effet métier se voit, et la reprise aussi.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04 · INTELLIGENCE ARTIFICIELLE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Détection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Détecter, expliquer — jamais décider seule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965960"/>
            <a:ext cx="5029200" cy="155448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148840"/>
            <a:ext cx="4517136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Détecteur d'anomalies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17 indicateurs par fenêtre de 10 s (débit, erreurs, latence, IP…). ACP + Isolation Forest. </a:t>
            </a:r>
            <a:r>
              <a:rPr sz="1350" b="1" i="0">
                <a:solidFill>
                  <a:srgbClr val="1F2430"/>
                </a:solidFill>
                <a:latin typeface="Segoe UI"/>
              </a:rPr>
              <a:t>Seuil appris automatiquement</a:t>
            </a:r>
            <a:r>
              <a:rPr sz="1350" b="0" i="0">
                <a:solidFill>
                  <a:srgbClr val="1F2430"/>
                </a:solidFill>
                <a:latin typeface="Segoe UI"/>
              </a:rPr>
              <a:t>, jamais codé en 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657600"/>
            <a:ext cx="5029200" cy="169164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3840480"/>
            <a:ext cx="451713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Assistant opérateur (RAG)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Ollama local, modèle 3B : explique une alerte à partir des runbooks. </a:t>
            </a:r>
            <a:r>
              <a:rPr sz="1350" b="1" i="0">
                <a:solidFill>
                  <a:srgbClr val="1F2430"/>
                </a:solidFill>
                <a:latin typeface="Segoe UI"/>
              </a:rPr>
              <a:t>Lecture seule</a:t>
            </a:r>
            <a:r>
              <a:rPr sz="1350" b="0" i="0">
                <a:solidFill>
                  <a:srgbClr val="1F2430"/>
                </a:solidFill>
                <a:latin typeface="Segoe UI"/>
              </a:rPr>
              <a:t>, aucun accès système, ne pilote jamais la remédiation.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65960"/>
            <a:ext cx="2514600" cy="155448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965960"/>
            <a:ext cx="64008" cy="155448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093976"/>
            <a:ext cx="210312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10–15 s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délai de détection d'une attaque franche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965960"/>
            <a:ext cx="2514600" cy="155448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965960"/>
            <a:ext cx="64008" cy="155448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2093976"/>
            <a:ext cx="210312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≈ 0,95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AUROC du score d'anomalie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703320"/>
            <a:ext cx="2514600" cy="155448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831335"/>
            <a:ext cx="210312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5 / 5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catégories d'attaque détectées sur données réelles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3703320"/>
            <a:ext cx="2514600" cy="155448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3703320"/>
            <a:ext cx="64008" cy="155448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3831335"/>
            <a:ext cx="210312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100 %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local — rien ne sort du laboratoire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05 · REPRISE 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Reprise du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Zero-touch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9601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1ère ligne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le WAF limite le débit par adresse et répond 429 avant d'atteindre payment-api.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Docker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tous les services en restart: unless-stopped, contrôle de santé sur MariaDB.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Données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transactions persistées sur volume, webhook de paiement idempotent — rejouer une confirmation ne casse rien.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Clone neuf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modèle du détecteur et index de l'assistant se reconstruisent seuls au premier démarrage.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scripts/verify.sh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contrôle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11 points de santé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 de bout en bout, y compris après un clone neuf.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06 ·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Chaque couche protège la suivante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96012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Réseau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réseau Docker interne cloisonné — seuls le WAF (8080) et Grafana (3000) sont exposés sur le hotspot.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Entrée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WAF Nginx — limitation de débit, blocage SQLi/XSS/traversée, en-têtes durcis, version masquée.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Paiement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webhook signé en </a:t>
            </a:r>
            <a:r>
              <a:rPr sz="1600" b="1" i="0">
                <a:solidFill>
                  <a:srgbClr val="A3014F"/>
                </a:solidFill>
                <a:latin typeface="Segoe UI"/>
              </a:rPr>
              <a:t>HMAC-SHA256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, comparé en temps constant ; aucune donnée de carte envoyée au serveur.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Secrets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générés au premier démarrage, jamais commités dans le dépôt.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600" b="1" i="0">
                <a:solidFill>
                  <a:srgbClr val="A3014F"/>
                </a:solidFill>
                <a:latin typeface="Segoe UI"/>
              </a:rPr>
              <a:t>SOC / SIEM : </a:t>
            </a:r>
            <a:r>
              <a:rPr sz="1600" b="0" i="0">
                <a:solidFill>
                  <a:srgbClr val="1F2430"/>
                </a:solidFill>
                <a:latin typeface="Segoe UI"/>
              </a:rPr>
              <a:t>journaux JSON corrélés par request_id, tableau Grafana dédié.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07 · CONSIGNE ADDITIONNELLE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Sécurité — biométrie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Authentification faciale et voyant connecté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65960"/>
            <a:ext cx="5760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50" b="0" i="0">
                <a:solidFill>
                  <a:srgbClr val="1F2430"/>
                </a:solidFill>
                <a:latin typeface="Segoe UI"/>
              </a:rPr>
              <a:t>Trois facteurs dans l'ordre : </a:t>
            </a:r>
            <a:r>
              <a:rPr sz="1550" b="1" i="0">
                <a:solidFill>
                  <a:srgbClr val="A3014F"/>
                </a:solidFill>
                <a:latin typeface="Segoe UI"/>
              </a:rPr>
              <a:t>identifiant → visage → mot de passe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50" b="0" i="0">
                <a:solidFill>
                  <a:srgbClr val="1F2430"/>
                </a:solidFill>
                <a:latin typeface="Segoe UI"/>
              </a:rPr>
              <a:t>Vérification 1:1 par OpenCV (YuNet + SFace), comparée au seul gabarit de l'identifiant saisi.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50" b="0" i="0">
                <a:solidFill>
                  <a:srgbClr val="1F2430"/>
                </a:solidFill>
                <a:latin typeface="Segoe UI"/>
              </a:rPr>
              <a:t>Blocage progressif après échec : </a:t>
            </a:r>
            <a:r>
              <a:rPr sz="1550" b="1" i="0">
                <a:solidFill>
                  <a:srgbClr val="A3014F"/>
                </a:solidFill>
                <a:latin typeface="Segoe UI"/>
              </a:rPr>
              <a:t>5, puis 10, puis 20 minutes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50" b="0" i="0">
                <a:solidFill>
                  <a:srgbClr val="1F2430"/>
                </a:solidFill>
                <a:latin typeface="Segoe UI"/>
              </a:rPr>
              <a:t>Un </a:t>
            </a:r>
            <a:r>
              <a:rPr sz="1550" b="1" i="0">
                <a:solidFill>
                  <a:srgbClr val="A3014F"/>
                </a:solidFill>
                <a:latin typeface="Segoe UI"/>
              </a:rPr>
              <a:t>ESP8266</a:t>
            </a:r>
            <a:r>
              <a:rPr sz="1550" b="0" i="0">
                <a:solidFill>
                  <a:srgbClr val="1F2430"/>
                </a:solidFill>
                <a:latin typeface="Segoe UI"/>
              </a:rPr>
              <a:t> sur le hotspot affiche l'état sur une LED verte / rouge.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965960"/>
            <a:ext cx="4572000" cy="192024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148840"/>
            <a:ext cx="40599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Point d'attention RGPD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Les gabarits faciaux sont des données biométriques sensibles (art. 9). Aucune photo n'est stockée — seulement un gabarit, supprimé avec l'habilitation. Pas de détection du vivant : écart assumé et documenté.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08 ·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Résultats des essais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Ce que montrent les essais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2011680"/>
            <a:ext cx="3337560" cy="118872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2011680"/>
            <a:ext cx="64008" cy="118872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139696"/>
            <a:ext cx="2926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5 / 5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catégories d'attaque détectées, alerte en 10–15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2011680"/>
            <a:ext cx="3337560" cy="118872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011680"/>
            <a:ext cx="64008" cy="118872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5" y="2139696"/>
            <a:ext cx="2926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4 888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réponses 429 renvoyées par le WAF pendant le flood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1271" y="2011680"/>
            <a:ext cx="3337560" cy="118872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91271" y="2011680"/>
            <a:ext cx="64008" cy="118872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5" y="2139696"/>
            <a:ext cx="2926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42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tests unitaires passants sur l'ensemble du dépôt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429000"/>
            <a:ext cx="3337560" cy="118872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" y="3429000"/>
            <a:ext cx="64008" cy="118872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557016"/>
            <a:ext cx="2926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11 / 11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points de santé vérifiés, même depuis un clone neuf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3429000"/>
            <a:ext cx="3337560" cy="118872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5112" y="3429000"/>
            <a:ext cx="64008" cy="118872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5" y="3557016"/>
            <a:ext cx="2926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≈ 0,93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exactitude du classifieur de catégorie d'attaque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1" y="3429000"/>
            <a:ext cx="3337560" cy="1188720"/>
          </a:xfrm>
          <a:prstGeom prst="rect">
            <a:avLst/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91271" y="3429000"/>
            <a:ext cx="64008" cy="118872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5" y="3557016"/>
            <a:ext cx="2926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200" b="1" i="0">
                <a:solidFill>
                  <a:srgbClr val="A3014F"/>
                </a:solidFill>
                <a:latin typeface="Segoe UI"/>
              </a:rPr>
              <a:t>0,74 vs 0,10</a:t>
            </a:r>
          </a:p>
          <a:p>
            <a:pPr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similarité faciale : même personne vs personnes différentes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09 · GOUVERNANCE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EBIOS RM · PCA/PRA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1F2430"/>
                </a:solidFill>
                <a:latin typeface="Segoe UI"/>
              </a:rPr>
              <a:t>Relier la technique au risque métier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1965960"/>
            <a:ext cx="5029200" cy="182880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2148840"/>
            <a:ext cx="45171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EBIOS RM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4 valeurs métier, 6 événements redoutés notés en gravité (1 à 4). Risques résiduels les plus lourds assumés en démonstrateur : </a:t>
            </a:r>
            <a:r>
              <a:rPr sz="1350" b="1" i="0">
                <a:solidFill>
                  <a:srgbClr val="1F2430"/>
                </a:solidFill>
                <a:latin typeface="Segoe UI"/>
              </a:rPr>
              <a:t>transactions faussées</a:t>
            </a:r>
            <a:r>
              <a:rPr sz="1350" b="0" i="0">
                <a:solidFill>
                  <a:srgbClr val="1F2430"/>
                </a:solidFill>
                <a:latin typeface="Segoe UI"/>
              </a:rPr>
              <a:t> et </a:t>
            </a:r>
            <a:r>
              <a:rPr sz="1350" b="1" i="0">
                <a:solidFill>
                  <a:srgbClr val="1F2430"/>
                </a:solidFill>
                <a:latin typeface="Segoe UI"/>
              </a:rPr>
              <a:t>prise de contrôle du back-office</a:t>
            </a:r>
            <a:r>
              <a:rPr sz="1350" b="0" i="0">
                <a:solidFill>
                  <a:srgbClr val="1F2430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977639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4160520"/>
            <a:ext cx="45171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PCA / PRA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RTO visé d'</a:t>
            </a:r>
            <a:r>
              <a:rPr sz="1350" b="1" i="0">
                <a:solidFill>
                  <a:srgbClr val="1F2430"/>
                </a:solidFill>
                <a:latin typeface="Segoe UI"/>
              </a:rPr>
              <a:t>une minute</a:t>
            </a:r>
            <a:r>
              <a:rPr sz="1350" b="0" i="0">
                <a:solidFill>
                  <a:srgbClr val="1F2430"/>
                </a:solidFill>
                <a:latin typeface="Segoe UI"/>
              </a:rPr>
              <a:t> pour la plupart des services, RPO = 0 grâce à la persistance des transactions.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65960"/>
            <a:ext cx="53035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800"/>
              </a:spcAft>
              <a:buClr>
                <a:srgbClr val="D6006C"/>
              </a:buClr>
              <a:buFont typeface="Arial"/>
              <a:buChar char="■"/>
            </a:pPr>
            <a:r>
              <a:rPr sz="1500" b="0" i="0">
                <a:solidFill>
                  <a:srgbClr val="1F2430"/>
                </a:solidFill>
                <a:latin typeface="Segoe UI"/>
              </a:rPr>
              <a:t>Couvert automatiquement : arrêt d'un conteneur, saturation par quelques adresses, redémarrage complet de l'hôte.</a:t>
            </a:r>
          </a:p>
          <a:p>
            <a:pPr indent="-203200" marL="203200">
              <a:spcAft>
                <a:spcPts val="1800"/>
              </a:spcAft>
              <a:buClr>
                <a:srgbClr val="D6006C"/>
              </a:buClr>
              <a:buFont typeface="Arial"/>
              <a:buChar char="■"/>
            </a:pPr>
            <a:r>
              <a:rPr sz="1500" b="1" i="0">
                <a:solidFill>
                  <a:srgbClr val="A3014F"/>
                </a:solidFill>
                <a:latin typeface="Segoe UI"/>
              </a:rPr>
              <a:t>Non couvert :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perte de l'hôte (pas de second site), perte du volume de la base, compromission avérée.</a:t>
            </a:r>
          </a:p>
          <a:p>
            <a:pPr indent="-203200" marL="203200">
              <a:spcAft>
                <a:spcPts val="1800"/>
              </a:spcAft>
              <a:buClr>
                <a:srgbClr val="D6006C"/>
              </a:buClr>
              <a:buFont typeface="Arial"/>
              <a:buChar char="■"/>
            </a:pPr>
            <a:r>
              <a:rPr sz="1500" b="0" i="0">
                <a:solidFill>
                  <a:srgbClr val="1F2430"/>
                </a:solidFill>
                <a:latin typeface="Segoe UI"/>
              </a:rPr>
              <a:t>Ces cas exigent une </a:t>
            </a:r>
            <a:r>
              <a:rPr sz="1500" b="1" i="0">
                <a:solidFill>
                  <a:srgbClr val="A3014F"/>
                </a:solidFill>
                <a:latin typeface="Segoe UI"/>
              </a:rPr>
              <a:t>investigation humaine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 avant toute remise en service — assumé et documenté.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5303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150">
                <a:solidFill>
                  <a:srgbClr val="D6006C"/>
                </a:solidFill>
                <a:latin typeface="Segoe UI"/>
              </a:rPr>
              <a:t>10 · NIS2 / 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303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00">
                <a:solidFill>
                  <a:srgbClr val="6B7280"/>
                </a:solidFill>
                <a:latin typeface="Segoe UI"/>
              </a:rPr>
              <a:t>XIJIN PINK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35508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 spc="30">
                <a:solidFill>
                  <a:srgbClr val="6B7280"/>
                </a:solidFill>
                <a:latin typeface="Segoe UI"/>
              </a:rPr>
              <a:t>Xijin Pink  •  NIS2 et 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2430"/>
                </a:solidFill>
                <a:latin typeface="Segoe UI"/>
              </a:rPr>
              <a:t>Ce qu'un prototype de 4 jours peut montrer — et ses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914400"/>
            <a:ext cx="1371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4600" b="1" i="0">
                <a:solidFill>
                  <a:srgbClr val="FDE8F1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5760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00" b="0" i="0">
                <a:solidFill>
                  <a:srgbClr val="1F2430"/>
                </a:solidFill>
                <a:latin typeface="Segoe UI"/>
              </a:rPr>
              <a:t>Xijin Pink est un </a:t>
            </a:r>
            <a:r>
              <a:rPr sz="1500" b="1" i="0">
                <a:solidFill>
                  <a:srgbClr val="A3014F"/>
                </a:solidFill>
                <a:latin typeface="Segoe UI"/>
              </a:rPr>
              <a:t>établissement de paiement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 fictif : DORA s'applique, NIS2 reste le cadre général.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00" b="1" i="0">
                <a:solidFill>
                  <a:srgbClr val="A3014F"/>
                </a:solidFill>
                <a:latin typeface="Segoe UI"/>
              </a:rPr>
              <a:t>Montré :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cartographie des risques, détection, alertes horodatées, procédures de réponse.</a:t>
            </a:r>
          </a:p>
          <a:p>
            <a:pPr indent="-203200" marL="203200">
              <a:spcAft>
                <a:spcPts val="1600"/>
              </a:spcAft>
              <a:buClr>
                <a:srgbClr val="D6006C"/>
              </a:buClr>
              <a:buFont typeface="Arial"/>
              <a:buChar char="■"/>
            </a:pPr>
            <a:r>
              <a:rPr sz="1500" b="1" i="0">
                <a:solidFill>
                  <a:srgbClr val="A3014F"/>
                </a:solidFill>
                <a:latin typeface="Segoe UI"/>
              </a:rPr>
              <a:t>Pas montré : </a:t>
            </a:r>
            <a:r>
              <a:rPr sz="1500" b="0" i="0">
                <a:solidFill>
                  <a:srgbClr val="1F2430"/>
                </a:solidFill>
                <a:latin typeface="Segoe UI"/>
              </a:rPr>
              <a:t>notification réglementaire réelle, tests d'intrusion indépendants (TLPT), validation par la direction.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240280"/>
            <a:ext cx="4572000" cy="1737360"/>
          </a:xfrm>
          <a:prstGeom prst="roundRect">
            <a:avLst>
              <a:gd name="adj" fmla="val 6000"/>
            </a:avLst>
          </a:prstGeom>
          <a:solidFill>
            <a:srgbClr val="FFF6FA"/>
          </a:solidFill>
          <a:ln w="9525">
            <a:solidFill>
              <a:srgbClr val="E5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423160"/>
            <a:ext cx="40599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A3014F"/>
                </a:solidFill>
                <a:latin typeface="Segoe UI"/>
              </a:rPr>
              <a:t>Nos recommandations prioritaires</a:t>
            </a:r>
          </a:p>
          <a:p>
            <a:pPr>
              <a:lnSpc>
                <a:spcPct val="125000"/>
              </a:lnSpc>
            </a:pPr>
            <a:r>
              <a:rPr sz="1350" b="0" i="0">
                <a:solidFill>
                  <a:srgbClr val="1F2430"/>
                </a:solidFill>
                <a:latin typeface="Segoe UI"/>
              </a:rPr>
              <a:t>Mesurer le taux de fausses alertes avant d'automatiser la remédiation · sauvegarder la base · relancer le webhook en cas d'échec · chiffrer les secrets (Vault/SOPS).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7800"/>
          </a:xfrm>
          <a:prstGeom prst="rect">
            <a:avLst/>
          </a:prstGeom>
          <a:solidFill>
            <a:srgbClr val="D60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" y="2377440"/>
            <a:ext cx="9144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1F2430"/>
                </a:solidFill>
                <a:latin typeface="Segoe UI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661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6B7280"/>
                </a:solidFill>
                <a:latin typeface="Segoe UI"/>
              </a:rPr>
              <a:t>Xijin Pink — une démonstration de cyber-résilience, du premier flood à la reprise vérifiée.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60">
                <a:solidFill>
                  <a:srgbClr val="A3014F"/>
                </a:solidFill>
                <a:latin typeface="Segoe UI"/>
              </a:rPr>
              <a:t>Questions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6035040"/>
            <a:ext cx="10671048" cy="12700"/>
          </a:xfrm>
          <a:prstGeom prst="rect">
            <a:avLst/>
          </a:prstGeom>
          <a:solidFill>
            <a:srgbClr val="E5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172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6B7280"/>
                </a:solidFill>
                <a:latin typeface="Segoe UI"/>
              </a:rPr>
              <a:t>Groupe G2  •  Julien Demogue · Louis Marec · Eric Girard · Noé Filippi · Sterenn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172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